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d Omen" id="{754a5866-81e3-eb54-d9e3-6f007c61f2b6}">
          <p14:sldIdLst>
            <p14:sldId id="256"/>
          </p14:sldIdLst>
        </p14:section>
        <p14:section name="The game" id="{e0303f96-7cc3-e984-b6c6-84f769027259}">
          <p14:sldIdLst>
            <p14:sldId id="257"/>
            <p14:sldId id="258"/>
            <p14:sldId id="259"/>
          </p14:sldIdLst>
        </p14:section>
        <p14:section name="Komur" id="{2a7ad3b5-5978-b19f-a9f5-6eb37861bd3e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a black cat who makes a superstitious Grandma wreck her own 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loop: the cat cannot break the big stuff; the angry homeowner does it for him.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execution: everything here was built during the jam on top of two licensed base characters.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Progression: rage phases unlock heavier weapons; disasters unlock the finale; scoring rewards chains and making Grandma do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Komur matters: the superstition is the premise, the cat is the mechanic and the narrator.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_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OMEN  ·  Game Jam Europe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1_img0" descr="portra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1_rect1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chemeClr val="tx1">
              <a:alpha val="82000"/>
            </a:schemeClr>
          </a:solidFill>
          <a:ln/>
        </p:spPr>
      </p:sp>
      <p:pic>
        <p:nvPicPr>
          <p:cNvPr id="4" name="s1_img2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669280" cy="1322832"/>
          </a:xfrm>
          <a:prstGeom prst="rect">
            <a:avLst/>
          </a:prstGeom>
        </p:spPr>
      </p:pic>
      <p:sp>
        <p:nvSpPr>
          <p:cNvPr id="5" name="s1_text3"/>
          <p:cNvSpPr txBox="1"/>
          <p:nvPr/>
        </p:nvSpPr>
        <p:spPr>
          <a:xfrm>
            <a:off x="566928" y="2606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CAT. TWO FLOORS. NO DEPOSIT REFUNDS.</a:t>
            </a:r>
            <a:endParaRPr lang="en-US" sz="1800" dirty="0"/>
          </a:p>
        </p:txBody>
      </p:sp>
      <p:sp>
        <p:nvSpPr>
          <p:cNvPr id="6" name="s1_text4"/>
          <p:cNvSpPr txBox="1"/>
          <p:nvPr/>
        </p:nvSpPr>
        <p:spPr>
          <a:xfrm>
            <a:off x="566928" y="32461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Grandma’s temper to destroy her house.</a:t>
            </a:r>
            <a:endParaRPr lang="en-US" sz="3000" dirty="0"/>
          </a:p>
        </p:txBody>
      </p:sp>
      <p:sp>
        <p:nvSpPr>
          <p:cNvPr id="7" name="s1_text5"/>
          <p:cNvSpPr txBox="1"/>
          <p:nvPr/>
        </p:nvSpPr>
        <p:spPr>
          <a:xfrm>
            <a:off x="566928" y="480060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third-person physics comedy starring Komur, a black cat with white paws and amber eyes.</a:t>
            </a:r>
            <a:endParaRPr lang="en-US" sz="1600" dirty="0"/>
          </a:p>
        </p:txBody>
      </p:sp>
      <p:sp>
        <p:nvSpPr>
          <p:cNvPr id="8" name="s1_text6"/>
          <p:cNvSpPr txBox="1"/>
          <p:nvPr/>
        </p:nvSpPr>
        <p:spPr>
          <a:xfrm>
            <a:off x="566928" y="5989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Jam Europe 2026  ·  plays in the browser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Taunt. Dodge. Let Granny smash it</a:t>
            </a:r>
            <a:endParaRPr lang="en-US" sz="3200" dirty="0"/>
          </a:p>
        </p:txBody>
      </p:sp>
      <p:pic>
        <p:nvPicPr>
          <p:cNvPr id="3" name="s2_img0" descr="ba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035040" cy="3394710"/>
          </a:xfrm>
          <a:prstGeom prst="rect">
            <a:avLst/>
          </a:prstGeom>
        </p:spPr>
      </p:pic>
      <p:sp>
        <p:nvSpPr>
          <p:cNvPr id="4" name="s2_text1"/>
          <p:cNvSpPr txBox="1"/>
          <p:nvPr/>
        </p:nvSpPr>
        <p:spPr>
          <a:xfrm>
            <a:off x="548640" y="495604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Grandma winds up an axe; its glowing arc runs past Komur to the plant chandelier’s rope in the conservatory.</a:t>
            </a:r>
            <a:endParaRPr lang="en-US" sz="1200" dirty="0"/>
          </a:p>
        </p:txBody>
      </p:sp>
      <p:sp>
        <p:nvSpPr>
          <p:cNvPr id="5" name="s2_oval2"/>
          <p:cNvSpPr/>
          <p:nvPr/>
        </p:nvSpPr>
        <p:spPr>
          <a:xfrm>
            <a:off x="6995160" y="1499616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2_text3"/>
          <p:cNvSpPr txBox="1"/>
          <p:nvPr/>
        </p:nvSpPr>
        <p:spPr>
          <a:xfrm>
            <a:off x="6995160" y="1499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2_text4"/>
          <p:cNvSpPr txBox="1"/>
          <p:nvPr/>
        </p:nvSpPr>
        <p:spPr>
          <a:xfrm>
            <a:off x="7708392" y="14630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TAUNT</a:t>
            </a:r>
            <a:endParaRPr lang="en-US" sz="1800" dirty="0"/>
          </a:p>
        </p:txBody>
      </p:sp>
      <p:sp>
        <p:nvSpPr>
          <p:cNvPr id="8" name="s2_text5"/>
          <p:cNvSpPr txBox="1"/>
          <p:nvPr/>
        </p:nvSpPr>
        <p:spPr>
          <a:xfrm>
            <a:off x="7708392" y="184708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Meow at Grandma until she reaches for the heavy cutlery.</a:t>
            </a:r>
            <a:endParaRPr lang="en-US" sz="1400" dirty="0"/>
          </a:p>
        </p:txBody>
      </p:sp>
      <p:sp>
        <p:nvSpPr>
          <p:cNvPr id="9" name="s2_oval6"/>
          <p:cNvSpPr/>
          <p:nvPr/>
        </p:nvSpPr>
        <p:spPr>
          <a:xfrm>
            <a:off x="6995160" y="2551176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2_text7"/>
          <p:cNvSpPr txBox="1"/>
          <p:nvPr/>
        </p:nvSpPr>
        <p:spPr>
          <a:xfrm>
            <a:off x="6995160" y="2551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2_text8"/>
          <p:cNvSpPr txBox="1"/>
          <p:nvPr/>
        </p:nvSpPr>
        <p:spPr>
          <a:xfrm>
            <a:off x="7708392" y="25146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</a:t>
            </a:r>
            <a:endParaRPr lang="en-US" sz="1800" dirty="0"/>
          </a:p>
        </p:txBody>
      </p:sp>
      <p:sp>
        <p:nvSpPr>
          <p:cNvPr id="12" name="s2_text9"/>
          <p:cNvSpPr txBox="1"/>
          <p:nvPr/>
        </p:nvSpPr>
        <p:spPr>
          <a:xfrm>
            <a:off x="7708392" y="28986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in front of a glowing weak spot: her throw is aimed through you.</a:t>
            </a:r>
            <a:endParaRPr lang="en-US" sz="1400" dirty="0"/>
          </a:p>
        </p:txBody>
      </p:sp>
      <p:sp>
        <p:nvSpPr>
          <p:cNvPr id="13" name="s2_oval10"/>
          <p:cNvSpPr/>
          <p:nvPr/>
        </p:nvSpPr>
        <p:spPr>
          <a:xfrm>
            <a:off x="6995160" y="3602736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2_text11"/>
          <p:cNvSpPr txBox="1"/>
          <p:nvPr/>
        </p:nvSpPr>
        <p:spPr>
          <a:xfrm>
            <a:off x="6995160" y="36027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2_text12"/>
          <p:cNvSpPr txBox="1"/>
          <p:nvPr/>
        </p:nvSpPr>
        <p:spPr>
          <a:xfrm>
            <a:off x="7708392" y="35661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DODGE</a:t>
            </a:r>
            <a:endParaRPr lang="en-US" sz="1800" dirty="0"/>
          </a:p>
        </p:txBody>
      </p:sp>
      <p:sp>
        <p:nvSpPr>
          <p:cNvPr id="16" name="s2_text13"/>
          <p:cNvSpPr txBox="1"/>
          <p:nvPr/>
        </p:nvSpPr>
        <p:spPr>
          <a:xfrm>
            <a:off x="7708392" y="39502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Gallop clear at the last moment. A hit leaves you seeing stars, and she grabs.</a:t>
            </a:r>
            <a:endParaRPr lang="en-US" sz="1400" dirty="0"/>
          </a:p>
        </p:txBody>
      </p:sp>
      <p:sp>
        <p:nvSpPr>
          <p:cNvPr id="17" name="s2_oval14"/>
          <p:cNvSpPr/>
          <p:nvPr/>
        </p:nvSpPr>
        <p:spPr>
          <a:xfrm>
            <a:off x="6995160" y="4654296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s2_text15"/>
          <p:cNvSpPr txBox="1"/>
          <p:nvPr/>
        </p:nvSpPr>
        <p:spPr>
          <a:xfrm>
            <a:off x="699516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s2_text16"/>
          <p:cNvSpPr txBox="1"/>
          <p:nvPr/>
        </p:nvSpPr>
        <p:spPr>
          <a:xfrm>
            <a:off x="7708392" y="4617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SMASHES IT</a:t>
            </a:r>
            <a:endParaRPr lang="en-US" sz="1800" dirty="0"/>
          </a:p>
        </p:txBody>
      </p:sp>
      <p:sp>
        <p:nvSpPr>
          <p:cNvPr id="20" name="s2_text17"/>
          <p:cNvSpPr txBox="1"/>
          <p:nvPr/>
        </p:nvSpPr>
        <p:spPr>
          <a:xfrm>
            <a:off x="7708392" y="50017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Ropes, stoves, floors, the glass roof, and finally the roof brace.</a:t>
            </a:r>
            <a:endParaRPr lang="en-US" sz="1400" dirty="0"/>
          </a:p>
        </p:txBody>
      </p:sp>
      <p:sp>
        <p:nvSpPr>
          <p:cNvPr id="21" name="s2_text18"/>
          <p:cNvSpPr txBox="1"/>
          <p:nvPr/>
        </p:nvSpPr>
        <p:spPr>
          <a:xfrm>
            <a:off x="6995160" y="5760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“GRANNY DID IT” doubles the points.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cat that moves like one, a house that breaks like one</a:t>
            </a:r>
            <a:endParaRPr lang="en-US" sz="3200" dirty="0"/>
          </a:p>
        </p:txBody>
      </p:sp>
      <p:sp>
        <p:nvSpPr>
          <p:cNvPr id="3" name="s3_rect0"/>
          <p:cNvSpPr/>
          <p:nvPr/>
        </p:nvSpPr>
        <p:spPr>
          <a:xfrm>
            <a:off x="548640" y="1463040"/>
            <a:ext cx="16916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4" name="s3_text1"/>
          <p:cNvSpPr txBox="1"/>
          <p:nvPr/>
        </p:nvSpPr>
        <p:spPr>
          <a:xfrm>
            <a:off x="548640" y="157276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375</a:t>
            </a:r>
            <a:endParaRPr lang="en-US" sz="4000" dirty="0"/>
          </a:p>
        </p:txBody>
      </p:sp>
      <p:sp>
        <p:nvSpPr>
          <p:cNvPr id="5" name="s3_text2"/>
          <p:cNvSpPr txBox="1"/>
          <p:nvPr/>
        </p:nvSpPr>
        <p:spPr>
          <a:xfrm>
            <a:off x="548640" y="22311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breakable props</a:t>
            </a:r>
            <a:endParaRPr lang="en-US" sz="1200" dirty="0"/>
          </a:p>
        </p:txBody>
      </p:sp>
      <p:sp>
        <p:nvSpPr>
          <p:cNvPr id="6" name="s3_rect3"/>
          <p:cNvSpPr/>
          <p:nvPr/>
        </p:nvSpPr>
        <p:spPr>
          <a:xfrm>
            <a:off x="2377440" y="1463040"/>
            <a:ext cx="16916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s3_text4"/>
          <p:cNvSpPr txBox="1"/>
          <p:nvPr/>
        </p:nvSpPr>
        <p:spPr>
          <a:xfrm>
            <a:off x="2377440" y="157276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000" dirty="0"/>
          </a:p>
        </p:txBody>
      </p:sp>
      <p:sp>
        <p:nvSpPr>
          <p:cNvPr id="8" name="s3_text5"/>
          <p:cNvSpPr txBox="1"/>
          <p:nvPr/>
        </p:nvSpPr>
        <p:spPr>
          <a:xfrm>
            <a:off x="2377440" y="22311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animations</a:t>
            </a:r>
            <a:endParaRPr lang="en-US" sz="1200" dirty="0"/>
          </a:p>
        </p:txBody>
      </p:sp>
      <p:sp>
        <p:nvSpPr>
          <p:cNvPr id="9" name="s3_rect6"/>
          <p:cNvSpPr/>
          <p:nvPr/>
        </p:nvSpPr>
        <p:spPr>
          <a:xfrm>
            <a:off x="4206240" y="1463040"/>
            <a:ext cx="16916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s3_text7"/>
          <p:cNvSpPr txBox="1"/>
          <p:nvPr/>
        </p:nvSpPr>
        <p:spPr>
          <a:xfrm>
            <a:off x="4206240" y="157276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4000" dirty="0"/>
          </a:p>
        </p:txBody>
      </p:sp>
      <p:sp>
        <p:nvSpPr>
          <p:cNvPr id="11" name="s3_text8"/>
          <p:cNvSpPr txBox="1"/>
          <p:nvPr/>
        </p:nvSpPr>
        <p:spPr>
          <a:xfrm>
            <a:off x="4206240" y="22311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voiced lines</a:t>
            </a:r>
            <a:endParaRPr lang="en-US" sz="1200" dirty="0"/>
          </a:p>
        </p:txBody>
      </p:sp>
      <p:sp>
        <p:nvSpPr>
          <p:cNvPr id="12" name="s3_rect9"/>
          <p:cNvSpPr/>
          <p:nvPr/>
        </p:nvSpPr>
        <p:spPr>
          <a:xfrm>
            <a:off x="6035040" y="1463040"/>
            <a:ext cx="16916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s3_text10"/>
          <p:cNvSpPr txBox="1"/>
          <p:nvPr/>
        </p:nvSpPr>
        <p:spPr>
          <a:xfrm>
            <a:off x="6035040" y="157276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4" name="s3_text11"/>
          <p:cNvSpPr txBox="1"/>
          <p:nvPr/>
        </p:nvSpPr>
        <p:spPr>
          <a:xfrm>
            <a:off x="6035040" y="22311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</a:t>
            </a:r>
            <a:endParaRPr lang="en-US" sz="1200" dirty="0"/>
          </a:p>
        </p:txBody>
      </p:sp>
      <p:sp>
        <p:nvSpPr>
          <p:cNvPr id="15" name="s3_rect12"/>
          <p:cNvSpPr/>
          <p:nvPr/>
        </p:nvSpPr>
        <p:spPr>
          <a:xfrm>
            <a:off x="548640" y="297180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</p:spPr>
      </p:sp>
      <p:sp>
        <p:nvSpPr>
          <p:cNvPr id="16" name="s3_text13"/>
          <p:cNvSpPr txBox="1"/>
          <p:nvPr/>
        </p:nvSpPr>
        <p:spPr>
          <a:xfrm>
            <a:off x="749808" y="31181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Komur in headless Blender</a:t>
            </a:r>
            <a:endParaRPr lang="en-US" sz="1600" dirty="0"/>
          </a:p>
        </p:txBody>
      </p:sp>
      <p:sp>
        <p:nvSpPr>
          <p:cNvPr id="17" name="s3_text14"/>
          <p:cNvSpPr txBox="1"/>
          <p:nvPr/>
        </p:nvSpPr>
        <p:spPr>
          <a:xfrm>
            <a:off x="749808" y="3502152"/>
            <a:ext cx="31638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Recoloured base model, 38 procedural clips: catwalk, gallop, aimed leaps, climbs, grooming. A runtime layer bends spine, tail and head.</a:t>
            </a:r>
            <a:endParaRPr lang="en-US" sz="1300" dirty="0"/>
          </a:p>
        </p:txBody>
      </p:sp>
      <p:sp>
        <p:nvSpPr>
          <p:cNvPr id="18" name="s3_rect15"/>
          <p:cNvSpPr/>
          <p:nvPr/>
        </p:nvSpPr>
        <p:spPr>
          <a:xfrm>
            <a:off x="4297680" y="297180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</p:spPr>
      </p:sp>
      <p:sp>
        <p:nvSpPr>
          <p:cNvPr id="19" name="s3_text16"/>
          <p:cNvSpPr txBox="1"/>
          <p:nvPr/>
        </p:nvSpPr>
        <p:spPr>
          <a:xfrm>
            <a:off x="4498848" y="31181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Grandma’s brain</a:t>
            </a:r>
            <a:endParaRPr lang="en-US" sz="1600" dirty="0"/>
          </a:p>
        </p:txBody>
      </p:sp>
      <p:sp>
        <p:nvSpPr>
          <p:cNvPr id="20" name="s3_text17"/>
          <p:cNvSpPr txBox="1"/>
          <p:nvPr/>
        </p:nvSpPr>
        <p:spPr>
          <a:xfrm>
            <a:off x="4498848" y="3502152"/>
            <a:ext cx="31638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 and hearing, A* across two floors and the garden, telegraphed throws steered by the cat’s bait.</a:t>
            </a:r>
            <a:endParaRPr lang="en-US" sz="1300" dirty="0"/>
          </a:p>
        </p:txBody>
      </p:sp>
      <p:sp>
        <p:nvSpPr>
          <p:cNvPr id="21" name="s3_rect18"/>
          <p:cNvSpPr/>
          <p:nvPr/>
        </p:nvSpPr>
        <p:spPr>
          <a:xfrm>
            <a:off x="548640" y="48920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22" name="s3_text19"/>
          <p:cNvSpPr txBox="1"/>
          <p:nvPr/>
        </p:nvSpPr>
        <p:spPr>
          <a:xfrm>
            <a:off x="749808" y="503834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 destruction</a:t>
            </a:r>
            <a:endParaRPr lang="en-US" sz="1600" dirty="0"/>
          </a:p>
        </p:txBody>
      </p:sp>
      <p:sp>
        <p:nvSpPr>
          <p:cNvPr id="23" name="s3_text20"/>
          <p:cNvSpPr txBox="1"/>
          <p:nvPr/>
        </p:nvSpPr>
        <p:spPr>
          <a:xfrm>
            <a:off x="749808" y="5422392"/>
            <a:ext cx="31638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Rapier rigid bodies; props fracture into persistent debris, then five authored set pieces take over.</a:t>
            </a:r>
            <a:endParaRPr lang="en-US" sz="1300" dirty="0"/>
          </a:p>
        </p:txBody>
      </p:sp>
      <p:sp>
        <p:nvSpPr>
          <p:cNvPr id="24" name="s3_rect21"/>
          <p:cNvSpPr/>
          <p:nvPr/>
        </p:nvSpPr>
        <p:spPr>
          <a:xfrm>
            <a:off x="4297680" y="48920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25" name="s3_text22"/>
          <p:cNvSpPr txBox="1"/>
          <p:nvPr/>
        </p:nvSpPr>
        <p:spPr>
          <a:xfrm>
            <a:off x="4498848" y="503834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in a browser tab</a:t>
            </a:r>
            <a:endParaRPr lang="en-US" sz="1600" dirty="0"/>
          </a:p>
        </p:txBody>
      </p:sp>
      <p:sp>
        <p:nvSpPr>
          <p:cNvPr id="26" name="s3_text23"/>
          <p:cNvSpPr txBox="1"/>
          <p:nvPr/>
        </p:nvSpPr>
        <p:spPr>
          <a:xfrm>
            <a:off x="4498848" y="5422392"/>
            <a:ext cx="31638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WebGL2 with no shader hitches; music that follows the chase; touch controls on phones.</a:t>
            </a:r>
            <a:endParaRPr lang="en-US" sz="1300" dirty="0"/>
          </a:p>
        </p:txBody>
      </p:sp>
      <p:pic>
        <p:nvPicPr>
          <p:cNvPr id="27" name="s3_img24" descr="chandeli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463040"/>
            <a:ext cx="3566160" cy="2005965"/>
          </a:xfrm>
          <a:prstGeom prst="rect">
            <a:avLst/>
          </a:prstGeom>
        </p:spPr>
      </p:pic>
      <p:pic>
        <p:nvPicPr>
          <p:cNvPr id="28" name="s3_img25" descr="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611880"/>
            <a:ext cx="3566160" cy="2005965"/>
          </a:xfrm>
          <a:prstGeom prst="rect">
            <a:avLst/>
          </a:prstGeom>
        </p:spPr>
      </p:pic>
      <p:sp>
        <p:nvSpPr>
          <p:cNvPr id="29" name="s3_text26"/>
          <p:cNvSpPr txBox="1"/>
          <p:nvPr/>
        </p:nvSpPr>
        <p:spPr>
          <a:xfrm>
            <a:off x="8092440" y="5715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Supper (top); Komur on the dining table.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angrier she gets, the more the house loses</a:t>
            </a:r>
            <a:endParaRPr lang="en-US" sz="3200" dirty="0"/>
          </a:p>
        </p:txBody>
      </p:sp>
      <p:sp>
        <p:nvSpPr>
          <p:cNvPr id="3" name="s4_text0"/>
          <p:cNvSpPr txBox="1"/>
          <p:nvPr/>
        </p:nvSpPr>
        <p:spPr>
          <a:xfrm>
            <a:off x="54864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GRANDMA’S RAGE</a:t>
            </a:r>
            <a:endParaRPr lang="en-US" sz="1400" dirty="0"/>
          </a:p>
        </p:txBody>
      </p:sp>
      <p:sp>
        <p:nvSpPr>
          <p:cNvPr id="4" name="s4_rect1"/>
          <p:cNvSpPr/>
          <p:nvPr/>
        </p:nvSpPr>
        <p:spPr>
          <a:xfrm>
            <a:off x="548640" y="1874520"/>
            <a:ext cx="4206240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/>
        </p:spPr>
      </p:sp>
      <p:sp>
        <p:nvSpPr>
          <p:cNvPr id="5" name="s4_text2"/>
          <p:cNvSpPr txBox="1"/>
          <p:nvPr/>
        </p:nvSpPr>
        <p:spPr>
          <a:xfrm>
            <a:off x="731520" y="187452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Suspicious</a:t>
            </a:r>
            <a:endParaRPr lang="en-US" sz="1500" dirty="0"/>
          </a:p>
        </p:txBody>
      </p:sp>
      <p:sp>
        <p:nvSpPr>
          <p:cNvPr id="6" name="s4_text3"/>
          <p:cNvSpPr txBox="1"/>
          <p:nvPr/>
        </p:nvSpPr>
        <p:spPr>
          <a:xfrm>
            <a:off x="2240280" y="1874520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mutters and follows noises</a:t>
            </a:r>
            <a:endParaRPr lang="en-US" sz="1300" dirty="0"/>
          </a:p>
        </p:txBody>
      </p:sp>
      <p:sp>
        <p:nvSpPr>
          <p:cNvPr id="7" name="s4_rect4"/>
          <p:cNvSpPr/>
          <p:nvPr/>
        </p:nvSpPr>
        <p:spPr>
          <a:xfrm>
            <a:off x="548640" y="2587752"/>
            <a:ext cx="4206240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/>
        </p:spPr>
      </p:sp>
      <p:sp>
        <p:nvSpPr>
          <p:cNvPr id="8" name="s4_text5"/>
          <p:cNvSpPr txBox="1"/>
          <p:nvPr/>
        </p:nvSpPr>
        <p:spPr>
          <a:xfrm>
            <a:off x="731520" y="258775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Hunting</a:t>
            </a:r>
            <a:endParaRPr lang="en-US" sz="1500" dirty="0"/>
          </a:p>
        </p:txBody>
      </p:sp>
      <p:sp>
        <p:nvSpPr>
          <p:cNvPr id="9" name="s4_text6"/>
          <p:cNvSpPr txBox="1"/>
          <p:nvPr/>
        </p:nvSpPr>
        <p:spPr>
          <a:xfrm>
            <a:off x="2240280" y="2587752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chases you; teapots and plates</a:t>
            </a:r>
            <a:endParaRPr lang="en-US" sz="1300" dirty="0"/>
          </a:p>
        </p:txBody>
      </p:sp>
      <p:sp>
        <p:nvSpPr>
          <p:cNvPr id="10" name="s4_rect7"/>
          <p:cNvSpPr/>
          <p:nvPr/>
        </p:nvSpPr>
        <p:spPr>
          <a:xfrm>
            <a:off x="548640" y="3300984"/>
            <a:ext cx="4206240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/>
        </p:spPr>
      </p:sp>
      <p:sp>
        <p:nvSpPr>
          <p:cNvPr id="11" name="s4_text8"/>
          <p:cNvSpPr txBox="1"/>
          <p:nvPr/>
        </p:nvSpPr>
        <p:spPr>
          <a:xfrm>
            <a:off x="731520" y="330098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Enraged</a:t>
            </a:r>
            <a:endParaRPr lang="en-US" sz="1500" dirty="0"/>
          </a:p>
        </p:txBody>
      </p:sp>
      <p:sp>
        <p:nvSpPr>
          <p:cNvPr id="12" name="s4_text9"/>
          <p:cNvSpPr txBox="1"/>
          <p:nvPr/>
        </p:nvSpPr>
        <p:spPr>
          <a:xfrm>
            <a:off x="2240280" y="3300984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china, the frying pan</a:t>
            </a:r>
            <a:endParaRPr lang="en-US" sz="1300" dirty="0"/>
          </a:p>
        </p:txBody>
      </p:sp>
      <p:sp>
        <p:nvSpPr>
          <p:cNvPr id="13" name="s4_rect10"/>
          <p:cNvSpPr/>
          <p:nvPr/>
        </p:nvSpPr>
        <p:spPr>
          <a:xfrm>
            <a:off x="548640" y="4014216"/>
            <a:ext cx="4206240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/>
        </p:spPr>
      </p:sp>
      <p:sp>
        <p:nvSpPr>
          <p:cNvPr id="14" name="s4_text11"/>
          <p:cNvSpPr txBox="1"/>
          <p:nvPr/>
        </p:nvSpPr>
        <p:spPr>
          <a:xfrm>
            <a:off x="731520" y="401421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Furious</a:t>
            </a:r>
            <a:endParaRPr lang="en-US" sz="1500" dirty="0"/>
          </a:p>
        </p:txBody>
      </p:sp>
      <p:sp>
        <p:nvSpPr>
          <p:cNvPr id="15" name="s4_text12"/>
          <p:cNvSpPr txBox="1"/>
          <p:nvPr/>
        </p:nvSpPr>
        <p:spPr>
          <a:xfrm>
            <a:off x="2240280" y="4014216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and pitchforks</a:t>
            </a:r>
            <a:endParaRPr lang="en-US" sz="1300" dirty="0"/>
          </a:p>
        </p:txBody>
      </p:sp>
      <p:sp>
        <p:nvSpPr>
          <p:cNvPr id="16" name="s4_rect13"/>
          <p:cNvSpPr/>
          <p:nvPr/>
        </p:nvSpPr>
        <p:spPr>
          <a:xfrm>
            <a:off x="548640" y="4727448"/>
            <a:ext cx="4206240" cy="603504"/>
          </a:xfrm>
          <a:prstGeom prst="roundRect">
            <a:avLst>
              <a:gd name="adj" fmla="val 15152"/>
            </a:avLst>
          </a:prstGeom>
          <a:solidFill>
            <a:schemeClr val="accent3">
              <a:alpha val="90000"/>
            </a:schemeClr>
          </a:solidFill>
          <a:ln/>
        </p:spPr>
      </p:sp>
      <p:sp>
        <p:nvSpPr>
          <p:cNvPr id="17" name="s4_text14"/>
          <p:cNvSpPr txBox="1"/>
          <p:nvPr/>
        </p:nvSpPr>
        <p:spPr>
          <a:xfrm>
            <a:off x="731520" y="472744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MELTDOWN</a:t>
            </a:r>
            <a:endParaRPr lang="en-US" sz="1500" dirty="0"/>
          </a:p>
        </p:txBody>
      </p:sp>
      <p:sp>
        <p:nvSpPr>
          <p:cNvPr id="18" name="s4_text15"/>
          <p:cNvSpPr txBox="1"/>
          <p:nvPr/>
        </p:nvSpPr>
        <p:spPr>
          <a:xfrm>
            <a:off x="2240280" y="4727448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tantrums and the enchanted axe</a:t>
            </a:r>
            <a:endParaRPr lang="en-US" sz="1300" dirty="0"/>
          </a:p>
        </p:txBody>
      </p:sp>
      <p:pic>
        <p:nvPicPr>
          <p:cNvPr id="19" name="s4_img16" descr="aftermat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417320"/>
            <a:ext cx="6537960" cy="3677603"/>
          </a:xfrm>
          <a:prstGeom prst="rect">
            <a:avLst/>
          </a:prstGeom>
        </p:spPr>
      </p:pic>
      <p:sp>
        <p:nvSpPr>
          <p:cNvPr id="20" name="s4_text17"/>
          <p:cNvSpPr txBox="1"/>
          <p:nvPr/>
        </p:nvSpPr>
        <p:spPr>
          <a:xfrm>
            <a:off x="5120640" y="5230368"/>
            <a:ext cx="6537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Supper  ·  The Kitchen Curse  ·  The Bedroom Below  ·  The Glass House  ·  The Final Straw</a:t>
            </a:r>
            <a:endParaRPr lang="en-US" sz="1300" dirty="0"/>
          </a:p>
        </p:txBody>
      </p:sp>
      <p:sp>
        <p:nvSpPr>
          <p:cNvPr id="21" name="s4_text18"/>
          <p:cNvSpPr txBox="1"/>
          <p:nvPr/>
        </p:nvSpPr>
        <p:spPr>
          <a:xfrm>
            <a:off x="5120640" y="562356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four bonus disasters, combos up to x5, 16 achievements and a rank. Damage persists. Get caught after the tutorial and it’s into her cauldron.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who’s the bad omen?</a:t>
            </a:r>
            <a:endParaRPr lang="en-US" sz="3200" dirty="0"/>
          </a:p>
        </p:txBody>
      </p:sp>
      <p:pic>
        <p:nvPicPr>
          <p:cNvPr id="3" name="s5_img0" descr="portra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120640" cy="2880360"/>
          </a:xfrm>
          <a:prstGeom prst="rect">
            <a:avLst/>
          </a:prstGeom>
        </p:spPr>
      </p:pic>
      <p:sp>
        <p:nvSpPr>
          <p:cNvPr id="4" name="s5_rect1"/>
          <p:cNvSpPr/>
          <p:nvPr/>
        </p:nvSpPr>
        <p:spPr>
          <a:xfrm>
            <a:off x="6035040" y="1417320"/>
            <a:ext cx="562356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</p:spPr>
      </p:sp>
      <p:sp>
        <p:nvSpPr>
          <p:cNvPr id="5" name="s5_text2"/>
          <p:cNvSpPr txBox="1"/>
          <p:nvPr/>
        </p:nvSpPr>
        <p:spPr>
          <a:xfrm>
            <a:off x="6236208" y="1563624"/>
            <a:ext cx="5221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superstition is the premise</a:t>
            </a:r>
            <a:endParaRPr lang="en-US" sz="1600" dirty="0"/>
          </a:p>
        </p:txBody>
      </p:sp>
      <p:sp>
        <p:nvSpPr>
          <p:cNvPr id="6" name="s5_text3"/>
          <p:cNvSpPr txBox="1"/>
          <p:nvPr/>
        </p:nvSpPr>
        <p:spPr>
          <a:xfrm>
            <a:off x="6236208" y="1947672"/>
            <a:ext cx="52212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Grandma blames the black cat for her bad luck, then demolishes her own house trying to catch him.</a:t>
            </a:r>
            <a:endParaRPr lang="en-US" sz="1300" dirty="0"/>
          </a:p>
        </p:txBody>
      </p:sp>
      <p:sp>
        <p:nvSpPr>
          <p:cNvPr id="7" name="s5_rect4"/>
          <p:cNvSpPr/>
          <p:nvPr/>
        </p:nvSpPr>
        <p:spPr>
          <a:xfrm>
            <a:off x="6035040" y="2697480"/>
            <a:ext cx="562356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</p:spPr>
      </p:sp>
      <p:sp>
        <p:nvSpPr>
          <p:cNvPr id="8" name="s5_text5"/>
          <p:cNvSpPr txBox="1"/>
          <p:nvPr/>
        </p:nvSpPr>
        <p:spPr>
          <a:xfrm>
            <a:off x="6236208" y="2843784"/>
            <a:ext cx="5221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 is the mechanic</a:t>
            </a:r>
            <a:endParaRPr lang="en-US" sz="1600" dirty="0"/>
          </a:p>
        </p:txBody>
      </p:sp>
      <p:sp>
        <p:nvSpPr>
          <p:cNvPr id="9" name="s5_text6"/>
          <p:cNvSpPr txBox="1"/>
          <p:nvPr/>
        </p:nvSpPr>
        <p:spPr>
          <a:xfrm>
            <a:off x="6236208" y="3227832"/>
            <a:ext cx="52212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Leaps, swipes, taunts and dodges. Komur has no weapons, only mischief and timing.</a:t>
            </a:r>
            <a:endParaRPr lang="en-US" sz="1300" dirty="0"/>
          </a:p>
        </p:txBody>
      </p:sp>
      <p:sp>
        <p:nvSpPr>
          <p:cNvPr id="10" name="s5_rect7"/>
          <p:cNvSpPr/>
          <p:nvPr/>
        </p:nvSpPr>
        <p:spPr>
          <a:xfrm>
            <a:off x="6035040" y="3977640"/>
            <a:ext cx="562356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</p:spPr>
      </p:sp>
      <p:sp>
        <p:nvSpPr>
          <p:cNvPr id="11" name="s5_text8"/>
          <p:cNvSpPr txBox="1"/>
          <p:nvPr/>
        </p:nvSpPr>
        <p:spPr>
          <a:xfrm>
            <a:off x="6236208" y="4123944"/>
            <a:ext cx="5221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 is the narrator</a:t>
            </a:r>
            <a:endParaRPr lang="en-US" sz="1600" dirty="0"/>
          </a:p>
        </p:txBody>
      </p:sp>
      <p:sp>
        <p:nvSpPr>
          <p:cNvPr id="12" name="s5_text9"/>
          <p:cNvSpPr txBox="1"/>
          <p:nvPr/>
        </p:nvSpPr>
        <p:spPr>
          <a:xfrm>
            <a:off x="6236208" y="4507992"/>
            <a:ext cx="52212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dry inner monologue against an increasingly unhinged Grandma: “I barely lifted a paw.”</a:t>
            </a:r>
            <a:endParaRPr lang="en-US" sz="1300" dirty="0"/>
          </a:p>
        </p:txBody>
      </p:sp>
      <p:sp>
        <p:nvSpPr>
          <p:cNvPr id="13" name="s5_text10"/>
          <p:cNvSpPr txBox="1"/>
          <p:nvPr/>
        </p:nvSpPr>
        <p:spPr>
          <a:xfrm>
            <a:off x="548640" y="4434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walk  ·  Shift gallop  ·  Space leap  ·  Click swipe  ·  F taunt  ·  E hide / scratch  ·  phones and tablets: touch controls, in landscape</a:t>
            </a:r>
            <a:endParaRPr lang="en-US" sz="1300" dirty="0"/>
          </a:p>
        </p:txBody>
      </p:sp>
      <p:sp>
        <p:nvSpPr>
          <p:cNvPr id="14" name="s5_text11"/>
          <p:cNvSpPr txBox="1"/>
          <p:nvPr/>
        </p:nvSpPr>
        <p:spPr>
          <a:xfrm>
            <a:off x="548640" y="5349240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in the browser: [link to be added on upload]</a:t>
            </a:r>
            <a:endParaRPr lang="en-US" sz="1600" dirty="0"/>
          </a:p>
        </p:txBody>
      </p:sp>
      <p:sp>
        <p:nvSpPr>
          <p:cNvPr id="15" name="s5_text12"/>
          <p:cNvSpPr txBox="1"/>
          <p:nvPr/>
        </p:nvSpPr>
        <p:spPr>
          <a:xfrm>
            <a:off x="548640" y="58064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Komur’s base model: “Somali Cat Animated ver 1.2” by DreamNoms (CC BY 4.0)  ·  Grandma: Adobe Mixamo  ·  wood textures: Poly Haven (CC0)  ·  voices: ElevenLabs  ·  music: Bombinsound (Pixabay), ElevenLabs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 Omen">
  <a:themeElements>
    <a:clrScheme name="Bad Omen">
      <a:dk1>
        <a:srgbClr val="0D0A14"/>
      </a:dk1>
      <a:lt1>
        <a:srgbClr val="F3E6C8"/>
      </a:lt1>
      <a:dk2>
        <a:srgbClr val="1E1428"/>
      </a:dk2>
      <a:lt2>
        <a:srgbClr val="B9A98A"/>
      </a:lt2>
      <a:accent1>
        <a:srgbClr val="FFAE1A"/>
      </a:accent1>
      <a:accent2>
        <a:srgbClr val="7DFF7A"/>
      </a:accent2>
      <a:accent3>
        <a:srgbClr val="FF5A3A"/>
      </a:accent3>
      <a:accent4>
        <a:srgbClr val="B26BFF"/>
      </a:accent4>
      <a:accent5>
        <a:srgbClr val="2A1E38"/>
      </a:accent5>
      <a:accent6>
        <a:srgbClr val="6A3A8A"/>
      </a:accent6>
      <a:hlink>
        <a:srgbClr val="FFAE1A"/>
      </a:hlink>
      <a:folHlink>
        <a:srgbClr val="B26BFF"/>
      </a:folHlink>
    </a:clrScheme>
    <a:fontScheme name="Bad Om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BAD OMEN</dc:title>
  <dc:subject>PptxGenJS Presentation</dc:subject>
  <dc:creator>BAD OMEN (Game Jam Europe 2026)</dc:creator>
  <cp:lastModifiedBy>BAD OMEN (Game Jam Europe 2026)</cp:lastModifiedBy>
  <cp:revision>1</cp:revision>
  <dcterms:created xsi:type="dcterms:W3CDTF">2026-10-18T06:23:45Z</dcterms:created>
  <dcterms:modified xsi:type="dcterms:W3CDTF">2026-10-18T06:23:45Z</dcterms:modified>
</cp:coreProperties>
</file>